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painel executivo de Suprimentos. Contexto: desempenho YTD 2026 dos principais indicadores da área, comparados às metas.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Painel principal. Colunas por tema: Base &amp; Compras, Gasto &amp; Economia, Capital de Giro &amp; Custos. Verde = na/acima da meta; azul = indicador informativo; vermelho = requer atenção. Atenção: Prazo Médio de Recebimento (129% da meta) e Travel (95% do valor mínimo).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 para decisão da diretoria: o portfólio de indicadores está majoritariamente saudável (7 de 9 na/acima da meta). Duas frentes exigem ação — recebimento (capital de giro) e Travel. Próximos passos priorizados à direita.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852160" cy="5852160"/>
          </a:xfrm>
          <a:prstGeom prst="ellipse">
            <a:avLst/>
          </a:prstGeom>
          <a:ln w="15875">
            <a:solidFill>
              <a:srgbClr val="2A4BD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914400"/>
            <a:ext cx="3657600" cy="3657600"/>
          </a:xfrm>
          <a:prstGeom prst="ellipse">
            <a:avLst/>
          </a:prstGeom>
          <a:ln w="15875">
            <a:solidFill>
              <a:srgbClr val="2A4BD7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44200" y="-137160"/>
            <a:ext cx="2103120" cy="2103120"/>
          </a:xfrm>
          <a:prstGeom prst="ellipse">
            <a:avLst/>
          </a:prstGeom>
          <a:solidFill>
            <a:srgbClr val="2A4BD7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502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tetra</a:t>
            </a:r>
            <a:pPr algn="r" indent="0" marL="0">
              <a:buNone/>
            </a:pPr>
            <a:r>
              <a:rPr lang="en-US" sz="2400" b="1" spc="-100" kern="0" dirty="0">
                <a:solidFill>
                  <a:srgbClr val="2A4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À DIRETORIA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28600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Painel Executivo de Suprimentos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YTD 2026</a:t>
            </a:r>
            <a:pPr indent="0" marL="0">
              <a:buNone/>
            </a:pPr>
            <a:r>
              <a:rPr lang="en-US" sz="18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Realizado vs. Meta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04672" y="4315968"/>
            <a:ext cx="822960" cy="82296"/>
          </a:xfrm>
          <a:prstGeom prst="roundRect">
            <a:avLst>
              <a:gd name="adj" fmla="val 55556"/>
            </a:avLst>
          </a:prstGeom>
          <a:solidFill>
            <a:srgbClr val="2A4BD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   |   Ciclo YTD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017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— YTD 2026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7863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Suprimentos · Realizado vs. Meta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195560" y="38404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spc="-100" kern="0" dirty="0">
                <a:solidFill>
                  <a:srgbClr val="2A4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tetra</a:t>
            </a:r>
            <a:pPr algn="r" indent="0" marL="0">
              <a:buNone/>
            </a:pPr>
            <a:r>
              <a:rPr lang="en-US" sz="2400" b="1" spc="-100" kern="0" dirty="0">
                <a:solidFill>
                  <a:srgbClr val="2A4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29768" y="1289304"/>
            <a:ext cx="118872" cy="118872"/>
          </a:xfrm>
          <a:prstGeom prst="ellipse">
            <a:avLst/>
          </a:prstGeom>
          <a:solidFill>
            <a:srgbClr val="2A4BD7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" y="1197864"/>
            <a:ext cx="3386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&amp; COMPRAS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09872" y="1289304"/>
            <a:ext cx="118872" cy="118872"/>
          </a:xfrm>
          <a:prstGeom prst="ellipse">
            <a:avLst/>
          </a:prstGeom>
          <a:solidFill>
            <a:srgbClr val="2A4BD7"/>
          </a:solidFill>
          <a:ln/>
        </p:spPr>
      </p:sp>
      <p:sp>
        <p:nvSpPr>
          <p:cNvPr id="8" name="Text 6"/>
          <p:cNvSpPr/>
          <p:nvPr/>
        </p:nvSpPr>
        <p:spPr>
          <a:xfrm>
            <a:off x="4511040" y="1197864"/>
            <a:ext cx="3386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&amp; ECONOMIA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89976" y="1289304"/>
            <a:ext cx="118872" cy="118872"/>
          </a:xfrm>
          <a:prstGeom prst="ellipse">
            <a:avLst/>
          </a:prstGeom>
          <a:solidFill>
            <a:srgbClr val="2A4BD7"/>
          </a:solidFill>
          <a:ln/>
        </p:spPr>
      </p:sp>
      <p:sp>
        <p:nvSpPr>
          <p:cNvPr id="10" name="Text 8"/>
          <p:cNvSpPr/>
          <p:nvPr/>
        </p:nvSpPr>
        <p:spPr>
          <a:xfrm>
            <a:off x="8391144" y="1197864"/>
            <a:ext cx="3386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DE GIRO &amp; CUSTOS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627632"/>
            <a:ext cx="3605784" cy="1399032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728216"/>
            <a:ext cx="3249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Fornecedores Contratados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1993392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penetração na base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29128" y="1746504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2A4BD7"/>
          </a:solidFill>
          <a:ln/>
        </p:spPr>
      </p:sp>
      <p:sp>
        <p:nvSpPr>
          <p:cNvPr id="15" name="Text 13"/>
          <p:cNvSpPr/>
          <p:nvPr/>
        </p:nvSpPr>
        <p:spPr>
          <a:xfrm>
            <a:off x="2929128" y="174650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11,5%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2231136"/>
            <a:ext cx="3294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328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566928" y="2670048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 </a:t>
            </a:r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2.846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2807208"/>
            <a:ext cx="3294888" cy="109728"/>
          </a:xfrm>
          <a:prstGeom prst="roundRect">
            <a:avLst>
              <a:gd name="adj" fmla="val 50000"/>
            </a:avLst>
          </a:prstGeom>
          <a:solidFill>
            <a:srgbClr val="EDF1F8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2807208"/>
            <a:ext cx="378912" cy="109728"/>
          </a:xfrm>
          <a:prstGeom prst="roundRect">
            <a:avLst>
              <a:gd name="adj" fmla="val 50000"/>
            </a:avLst>
          </a:prstGeom>
          <a:solidFill>
            <a:srgbClr val="2A4BD7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3159252"/>
            <a:ext cx="3605784" cy="1399032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6928" y="3259836"/>
            <a:ext cx="3249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de Compra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3525012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Qtd. de pedidos de compra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929128" y="3278124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2A4BD7"/>
          </a:solidFill>
          <a:ln/>
        </p:spPr>
      </p:sp>
      <p:sp>
        <p:nvSpPr>
          <p:cNvPr id="24" name="Text 22"/>
          <p:cNvSpPr/>
          <p:nvPr/>
        </p:nvSpPr>
        <p:spPr>
          <a:xfrm>
            <a:off x="2929128" y="327812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93,5%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3762756"/>
            <a:ext cx="3294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1,57 Mil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566928" y="4201668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 </a:t>
            </a:r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1.683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4338828"/>
            <a:ext cx="3294888" cy="109728"/>
          </a:xfrm>
          <a:prstGeom prst="roundRect">
            <a:avLst>
              <a:gd name="adj" fmla="val 50000"/>
            </a:avLst>
          </a:prstGeom>
          <a:solidFill>
            <a:srgbClr val="EDF1F8"/>
          </a:solidFill>
          <a:ln/>
        </p:spPr>
      </p:sp>
      <p:sp>
        <p:nvSpPr>
          <p:cNvPr id="28" name="Shape 26"/>
          <p:cNvSpPr/>
          <p:nvPr/>
        </p:nvSpPr>
        <p:spPr>
          <a:xfrm>
            <a:off x="566928" y="4338828"/>
            <a:ext cx="3080720" cy="109728"/>
          </a:xfrm>
          <a:prstGeom prst="roundRect">
            <a:avLst>
              <a:gd name="adj" fmla="val 50000"/>
            </a:avLst>
          </a:prstGeom>
          <a:solidFill>
            <a:srgbClr val="2A4BD7"/>
          </a:solidFill>
          <a:ln/>
        </p:spPr>
      </p:sp>
      <p:sp>
        <p:nvSpPr>
          <p:cNvPr id="29" name="Shape 27"/>
          <p:cNvSpPr/>
          <p:nvPr/>
        </p:nvSpPr>
        <p:spPr>
          <a:xfrm>
            <a:off x="411480" y="4690872"/>
            <a:ext cx="3605784" cy="1399032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66928" y="4791456"/>
            <a:ext cx="3249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66928" y="5056632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médio por pedido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929128" y="4809744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0FA98E"/>
          </a:solidFill>
          <a:ln/>
        </p:spPr>
      </p:sp>
      <p:sp>
        <p:nvSpPr>
          <p:cNvPr id="33" name="Text 31"/>
          <p:cNvSpPr/>
          <p:nvPr/>
        </p:nvSpPr>
        <p:spPr>
          <a:xfrm>
            <a:off x="2929128" y="480974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105,9%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" y="5294376"/>
            <a:ext cx="3294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4,43 Mil</a:t>
            </a:r>
            <a:endParaRPr lang="en-US" sz="2500" dirty="0"/>
          </a:p>
        </p:txBody>
      </p:sp>
      <p:sp>
        <p:nvSpPr>
          <p:cNvPr id="35" name="Text 33"/>
          <p:cNvSpPr/>
          <p:nvPr/>
        </p:nvSpPr>
        <p:spPr>
          <a:xfrm>
            <a:off x="566928" y="5733288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 </a:t>
            </a:r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4.187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" y="5870448"/>
            <a:ext cx="3294888" cy="109728"/>
          </a:xfrm>
          <a:prstGeom prst="roundRect">
            <a:avLst>
              <a:gd name="adj" fmla="val 50000"/>
            </a:avLst>
          </a:prstGeom>
          <a:solidFill>
            <a:srgbClr val="EDF1F8"/>
          </a:solidFill>
          <a:ln/>
        </p:spPr>
      </p:sp>
      <p:sp>
        <p:nvSpPr>
          <p:cNvPr id="37" name="Shape 35"/>
          <p:cNvSpPr/>
          <p:nvPr/>
        </p:nvSpPr>
        <p:spPr>
          <a:xfrm>
            <a:off x="566928" y="5870448"/>
            <a:ext cx="3294888" cy="109728"/>
          </a:xfrm>
          <a:prstGeom prst="roundRect">
            <a:avLst>
              <a:gd name="adj" fmla="val 50000"/>
            </a:avLst>
          </a:prstGeom>
          <a:solidFill>
            <a:srgbClr val="0FA98E"/>
          </a:solidFill>
          <a:ln/>
        </p:spPr>
      </p:sp>
      <p:sp>
        <p:nvSpPr>
          <p:cNvPr id="38" name="Shape 36"/>
          <p:cNvSpPr/>
          <p:nvPr/>
        </p:nvSpPr>
        <p:spPr>
          <a:xfrm>
            <a:off x="4291584" y="1627632"/>
            <a:ext cx="3605784" cy="1399032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447032" y="1728216"/>
            <a:ext cx="3249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447032" y="1993392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em R$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09232" y="1746504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0FA98E"/>
          </a:solidFill>
          <a:ln/>
        </p:spPr>
      </p:sp>
      <p:sp>
        <p:nvSpPr>
          <p:cNvPr id="42" name="Text 40"/>
          <p:cNvSpPr/>
          <p:nvPr/>
        </p:nvSpPr>
        <p:spPr>
          <a:xfrm>
            <a:off x="6809232" y="174650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99,0%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447032" y="2231136"/>
            <a:ext cx="3294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6,98 Mi</a:t>
            </a:r>
            <a:endParaRPr lang="en-US" sz="2500" dirty="0"/>
          </a:p>
        </p:txBody>
      </p:sp>
      <p:sp>
        <p:nvSpPr>
          <p:cNvPr id="44" name="Text 42"/>
          <p:cNvSpPr/>
          <p:nvPr/>
        </p:nvSpPr>
        <p:spPr>
          <a:xfrm>
            <a:off x="4447032" y="2670048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 </a:t>
            </a:r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7,05 Mi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2807208"/>
            <a:ext cx="3294888" cy="109728"/>
          </a:xfrm>
          <a:prstGeom prst="roundRect">
            <a:avLst>
              <a:gd name="adj" fmla="val 50000"/>
            </a:avLst>
          </a:prstGeom>
          <a:solidFill>
            <a:srgbClr val="EDF1F8"/>
          </a:solidFill>
          <a:ln/>
        </p:spPr>
      </p:sp>
      <p:sp>
        <p:nvSpPr>
          <p:cNvPr id="46" name="Shape 44"/>
          <p:cNvSpPr/>
          <p:nvPr/>
        </p:nvSpPr>
        <p:spPr>
          <a:xfrm>
            <a:off x="4447032" y="2807208"/>
            <a:ext cx="3261939" cy="109728"/>
          </a:xfrm>
          <a:prstGeom prst="roundRect">
            <a:avLst>
              <a:gd name="adj" fmla="val 50000"/>
            </a:avLst>
          </a:prstGeom>
          <a:solidFill>
            <a:srgbClr val="0FA98E"/>
          </a:solidFill>
          <a:ln/>
        </p:spPr>
      </p:sp>
      <p:sp>
        <p:nvSpPr>
          <p:cNvPr id="47" name="Shape 45"/>
          <p:cNvSpPr/>
          <p:nvPr/>
        </p:nvSpPr>
        <p:spPr>
          <a:xfrm>
            <a:off x="4291584" y="3159252"/>
            <a:ext cx="3605784" cy="1399032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447032" y="3259836"/>
            <a:ext cx="3249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Spend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4447032" y="3525012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de baixo valor (1.329)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809232" y="3278124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0FA98E"/>
          </a:solidFill>
          <a:ln/>
        </p:spPr>
      </p:sp>
      <p:sp>
        <p:nvSpPr>
          <p:cNvPr id="51" name="Text 49"/>
          <p:cNvSpPr/>
          <p:nvPr/>
        </p:nvSpPr>
        <p:spPr>
          <a:xfrm>
            <a:off x="6809232" y="327812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109,1%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447032" y="3762756"/>
            <a:ext cx="3294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2,05 Mi</a:t>
            </a:r>
            <a:endParaRPr lang="en-US" sz="2500" dirty="0"/>
          </a:p>
        </p:txBody>
      </p:sp>
      <p:sp>
        <p:nvSpPr>
          <p:cNvPr id="53" name="Text 51"/>
          <p:cNvSpPr/>
          <p:nvPr/>
        </p:nvSpPr>
        <p:spPr>
          <a:xfrm>
            <a:off x="4447032" y="4201668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 </a:t>
            </a:r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1,875 Mi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447032" y="4338828"/>
            <a:ext cx="3294888" cy="109728"/>
          </a:xfrm>
          <a:prstGeom prst="roundRect">
            <a:avLst>
              <a:gd name="adj" fmla="val 50000"/>
            </a:avLst>
          </a:prstGeom>
          <a:solidFill>
            <a:srgbClr val="EDF1F8"/>
          </a:solidFill>
          <a:ln/>
        </p:spPr>
      </p:sp>
      <p:sp>
        <p:nvSpPr>
          <p:cNvPr id="55" name="Shape 53"/>
          <p:cNvSpPr/>
          <p:nvPr/>
        </p:nvSpPr>
        <p:spPr>
          <a:xfrm>
            <a:off x="4447032" y="4338828"/>
            <a:ext cx="3294888" cy="109728"/>
          </a:xfrm>
          <a:prstGeom prst="roundRect">
            <a:avLst>
              <a:gd name="adj" fmla="val 50000"/>
            </a:avLst>
          </a:prstGeom>
          <a:solidFill>
            <a:srgbClr val="0FA98E"/>
          </a:solidFill>
          <a:ln/>
        </p:spPr>
      </p:sp>
      <p:sp>
        <p:nvSpPr>
          <p:cNvPr id="56" name="Shape 54"/>
          <p:cNvSpPr/>
          <p:nvPr/>
        </p:nvSpPr>
        <p:spPr>
          <a:xfrm>
            <a:off x="4291584" y="4690872"/>
            <a:ext cx="3605784" cy="1399032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447032" y="4791456"/>
            <a:ext cx="3249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&amp; Cost Avoidance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4447032" y="5056632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vs. budget (R$)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809232" y="4809744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0FA98E"/>
          </a:solidFill>
          <a:ln/>
        </p:spPr>
      </p:sp>
      <p:sp>
        <p:nvSpPr>
          <p:cNvPr id="60" name="Text 58"/>
          <p:cNvSpPr/>
          <p:nvPr/>
        </p:nvSpPr>
        <p:spPr>
          <a:xfrm>
            <a:off x="6809232" y="480974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102,3%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4447032" y="5294376"/>
            <a:ext cx="3294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636,23 Mil</a:t>
            </a:r>
            <a:endParaRPr lang="en-US" sz="2500" dirty="0"/>
          </a:p>
        </p:txBody>
      </p:sp>
      <p:sp>
        <p:nvSpPr>
          <p:cNvPr id="62" name="Text 60"/>
          <p:cNvSpPr/>
          <p:nvPr/>
        </p:nvSpPr>
        <p:spPr>
          <a:xfrm>
            <a:off x="4447032" y="5733288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 </a:t>
            </a:r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621.943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447032" y="5870448"/>
            <a:ext cx="3294888" cy="109728"/>
          </a:xfrm>
          <a:prstGeom prst="roundRect">
            <a:avLst>
              <a:gd name="adj" fmla="val 50000"/>
            </a:avLst>
          </a:prstGeom>
          <a:solidFill>
            <a:srgbClr val="EDF1F8"/>
          </a:solidFill>
          <a:ln/>
        </p:spPr>
      </p:sp>
      <p:sp>
        <p:nvSpPr>
          <p:cNvPr id="64" name="Shape 62"/>
          <p:cNvSpPr/>
          <p:nvPr/>
        </p:nvSpPr>
        <p:spPr>
          <a:xfrm>
            <a:off x="4447032" y="5870448"/>
            <a:ext cx="3294888" cy="109728"/>
          </a:xfrm>
          <a:prstGeom prst="roundRect">
            <a:avLst>
              <a:gd name="adj" fmla="val 50000"/>
            </a:avLst>
          </a:prstGeom>
          <a:solidFill>
            <a:srgbClr val="0FA98E"/>
          </a:solidFill>
          <a:ln/>
        </p:spPr>
      </p:sp>
      <p:sp>
        <p:nvSpPr>
          <p:cNvPr id="65" name="Shape 63"/>
          <p:cNvSpPr/>
          <p:nvPr/>
        </p:nvSpPr>
        <p:spPr>
          <a:xfrm>
            <a:off x="8171688" y="1627632"/>
            <a:ext cx="3605784" cy="1399032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2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8327136" y="1728216"/>
            <a:ext cx="3249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 Pagamento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8327136" y="1993392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a fornecedores (dias)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10689336" y="1746504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0FA98E"/>
          </a:solidFill>
          <a:ln/>
        </p:spPr>
      </p:sp>
      <p:sp>
        <p:nvSpPr>
          <p:cNvPr id="69" name="Text 67"/>
          <p:cNvSpPr/>
          <p:nvPr/>
        </p:nvSpPr>
        <p:spPr>
          <a:xfrm>
            <a:off x="10689336" y="174650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97,9%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8327136" y="2231136"/>
            <a:ext cx="3294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25,86</a:t>
            </a:r>
            <a:endParaRPr lang="en-US" sz="2500" dirty="0"/>
          </a:p>
        </p:txBody>
      </p:sp>
      <p:sp>
        <p:nvSpPr>
          <p:cNvPr id="71" name="Text 69"/>
          <p:cNvSpPr/>
          <p:nvPr/>
        </p:nvSpPr>
        <p:spPr>
          <a:xfrm>
            <a:off x="8327136" y="2670048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 </a:t>
            </a:r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26,43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8327136" y="2807208"/>
            <a:ext cx="3294888" cy="109728"/>
          </a:xfrm>
          <a:prstGeom prst="roundRect">
            <a:avLst>
              <a:gd name="adj" fmla="val 50000"/>
            </a:avLst>
          </a:prstGeom>
          <a:solidFill>
            <a:srgbClr val="EDF1F8"/>
          </a:solidFill>
          <a:ln/>
        </p:spPr>
      </p:sp>
      <p:sp>
        <p:nvSpPr>
          <p:cNvPr id="73" name="Shape 71"/>
          <p:cNvSpPr/>
          <p:nvPr/>
        </p:nvSpPr>
        <p:spPr>
          <a:xfrm>
            <a:off x="8327136" y="2807208"/>
            <a:ext cx="3225695" cy="109728"/>
          </a:xfrm>
          <a:prstGeom prst="roundRect">
            <a:avLst>
              <a:gd name="adj" fmla="val 50000"/>
            </a:avLst>
          </a:prstGeom>
          <a:solidFill>
            <a:srgbClr val="0FA98E"/>
          </a:solidFill>
          <a:ln/>
        </p:spPr>
      </p:sp>
      <p:sp>
        <p:nvSpPr>
          <p:cNvPr id="74" name="Shape 72"/>
          <p:cNvSpPr/>
          <p:nvPr/>
        </p:nvSpPr>
        <p:spPr>
          <a:xfrm>
            <a:off x="8171688" y="3159252"/>
            <a:ext cx="3605784" cy="1399032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2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8327136" y="3259836"/>
            <a:ext cx="3249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 Recebimento</a:t>
            </a:r>
            <a:endParaRPr lang="en-US" sz="1250" dirty="0"/>
          </a:p>
        </p:txBody>
      </p:sp>
      <p:sp>
        <p:nvSpPr>
          <p:cNvPr id="76" name="Text 74"/>
          <p:cNvSpPr/>
          <p:nvPr/>
        </p:nvSpPr>
        <p:spPr>
          <a:xfrm>
            <a:off x="8327136" y="3525012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Recebimento de clientes (dias)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0689336" y="3278124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DE5145"/>
          </a:solidFill>
          <a:ln/>
        </p:spPr>
      </p:sp>
      <p:sp>
        <p:nvSpPr>
          <p:cNvPr id="78" name="Text 76"/>
          <p:cNvSpPr/>
          <p:nvPr/>
        </p:nvSpPr>
        <p:spPr>
          <a:xfrm>
            <a:off x="10689336" y="327812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129,3%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8327136" y="3762756"/>
            <a:ext cx="3294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35,84</a:t>
            </a:r>
            <a:endParaRPr lang="en-US" sz="2500" dirty="0"/>
          </a:p>
        </p:txBody>
      </p:sp>
      <p:sp>
        <p:nvSpPr>
          <p:cNvPr id="80" name="Text 78"/>
          <p:cNvSpPr/>
          <p:nvPr/>
        </p:nvSpPr>
        <p:spPr>
          <a:xfrm>
            <a:off x="8327136" y="4201668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 </a:t>
            </a:r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27,71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8327136" y="4338828"/>
            <a:ext cx="3294888" cy="109728"/>
          </a:xfrm>
          <a:prstGeom prst="roundRect">
            <a:avLst>
              <a:gd name="adj" fmla="val 50000"/>
            </a:avLst>
          </a:prstGeom>
          <a:solidFill>
            <a:srgbClr val="EDF1F8"/>
          </a:solidFill>
          <a:ln/>
        </p:spPr>
      </p:sp>
      <p:sp>
        <p:nvSpPr>
          <p:cNvPr id="82" name="Shape 80"/>
          <p:cNvSpPr/>
          <p:nvPr/>
        </p:nvSpPr>
        <p:spPr>
          <a:xfrm>
            <a:off x="8327136" y="4338828"/>
            <a:ext cx="3294888" cy="109728"/>
          </a:xfrm>
          <a:prstGeom prst="roundRect">
            <a:avLst>
              <a:gd name="adj" fmla="val 50000"/>
            </a:avLst>
          </a:prstGeom>
          <a:solidFill>
            <a:srgbClr val="DE5145"/>
          </a:solidFill>
          <a:ln/>
        </p:spPr>
      </p:sp>
      <p:sp>
        <p:nvSpPr>
          <p:cNvPr id="83" name="Shape 81"/>
          <p:cNvSpPr/>
          <p:nvPr/>
        </p:nvSpPr>
        <p:spPr>
          <a:xfrm>
            <a:off x="8171688" y="4690872"/>
            <a:ext cx="3605784" cy="1399032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2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8327136" y="4791456"/>
            <a:ext cx="3249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1250" dirty="0"/>
          </a:p>
        </p:txBody>
      </p:sp>
      <p:sp>
        <p:nvSpPr>
          <p:cNvPr id="85" name="Text 83"/>
          <p:cNvSpPr/>
          <p:nvPr/>
        </p:nvSpPr>
        <p:spPr>
          <a:xfrm>
            <a:off x="8327136" y="5056632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mínimo vs. valor pago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10689336" y="4809744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DE5145"/>
          </a:solidFill>
          <a:ln/>
        </p:spPr>
      </p:sp>
      <p:sp>
        <p:nvSpPr>
          <p:cNvPr id="87" name="Text 85"/>
          <p:cNvSpPr/>
          <p:nvPr/>
        </p:nvSpPr>
        <p:spPr>
          <a:xfrm>
            <a:off x="10689336" y="480974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95,4%</a:t>
            </a:r>
            <a:endParaRPr lang="en-US" sz="1150" dirty="0"/>
          </a:p>
        </p:txBody>
      </p:sp>
      <p:sp>
        <p:nvSpPr>
          <p:cNvPr id="88" name="Text 86"/>
          <p:cNvSpPr/>
          <p:nvPr/>
        </p:nvSpPr>
        <p:spPr>
          <a:xfrm>
            <a:off x="8327136" y="5294376"/>
            <a:ext cx="3294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425,66 Mil</a:t>
            </a:r>
            <a:endParaRPr lang="en-US" sz="2500" dirty="0"/>
          </a:p>
        </p:txBody>
      </p:sp>
      <p:sp>
        <p:nvSpPr>
          <p:cNvPr id="89" name="Text 87"/>
          <p:cNvSpPr/>
          <p:nvPr/>
        </p:nvSpPr>
        <p:spPr>
          <a:xfrm>
            <a:off x="8327136" y="5733288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 </a:t>
            </a:r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446.410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8327136" y="5870448"/>
            <a:ext cx="3294888" cy="109728"/>
          </a:xfrm>
          <a:prstGeom prst="roundRect">
            <a:avLst>
              <a:gd name="adj" fmla="val 50000"/>
            </a:avLst>
          </a:prstGeom>
          <a:solidFill>
            <a:srgbClr val="EDF1F8"/>
          </a:solidFill>
          <a:ln/>
        </p:spPr>
      </p:sp>
      <p:sp>
        <p:nvSpPr>
          <p:cNvPr id="91" name="Shape 89"/>
          <p:cNvSpPr/>
          <p:nvPr/>
        </p:nvSpPr>
        <p:spPr>
          <a:xfrm>
            <a:off x="8327136" y="5870448"/>
            <a:ext cx="3143323" cy="109728"/>
          </a:xfrm>
          <a:prstGeom prst="roundRect">
            <a:avLst>
              <a:gd name="adj" fmla="val 50000"/>
            </a:avLst>
          </a:prstGeom>
          <a:solidFill>
            <a:srgbClr val="DE5145"/>
          </a:solidFill>
          <a:ln/>
        </p:spPr>
      </p:sp>
      <p:sp>
        <p:nvSpPr>
          <p:cNvPr id="92" name="Shape 90"/>
          <p:cNvSpPr/>
          <p:nvPr/>
        </p:nvSpPr>
        <p:spPr>
          <a:xfrm>
            <a:off x="429768" y="6537960"/>
            <a:ext cx="109728" cy="109728"/>
          </a:xfrm>
          <a:prstGeom prst="ellipse">
            <a:avLst/>
          </a:prstGeom>
          <a:solidFill>
            <a:srgbClr val="0FA98E"/>
          </a:solidFill>
          <a:ln/>
        </p:spPr>
      </p:sp>
      <p:sp>
        <p:nvSpPr>
          <p:cNvPr id="93" name="Text 91"/>
          <p:cNvSpPr/>
          <p:nvPr/>
        </p:nvSpPr>
        <p:spPr>
          <a:xfrm>
            <a:off x="594360" y="6464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/ acima da meta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2099462" y="6537960"/>
            <a:ext cx="109728" cy="109728"/>
          </a:xfrm>
          <a:prstGeom prst="ellipse">
            <a:avLst/>
          </a:prstGeom>
          <a:solidFill>
            <a:srgbClr val="2A4BD7"/>
          </a:solidFill>
          <a:ln/>
        </p:spPr>
      </p:sp>
      <p:sp>
        <p:nvSpPr>
          <p:cNvPr id="95" name="Text 93"/>
          <p:cNvSpPr/>
          <p:nvPr/>
        </p:nvSpPr>
        <p:spPr>
          <a:xfrm>
            <a:off x="2264054" y="6464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Informativo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3308299" y="6537960"/>
            <a:ext cx="109728" cy="109728"/>
          </a:xfrm>
          <a:prstGeom prst="ellipse">
            <a:avLst/>
          </a:prstGeom>
          <a:solidFill>
            <a:srgbClr val="DE5145"/>
          </a:solidFill>
          <a:ln/>
        </p:spPr>
      </p:sp>
      <p:sp>
        <p:nvSpPr>
          <p:cNvPr id="97" name="Text 95"/>
          <p:cNvSpPr/>
          <p:nvPr/>
        </p:nvSpPr>
        <p:spPr>
          <a:xfrm>
            <a:off x="3472891" y="6464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 atenção</a:t>
            </a:r>
            <a:endParaRPr lang="en-US" sz="1050" dirty="0"/>
          </a:p>
        </p:txBody>
      </p:sp>
      <p:sp>
        <p:nvSpPr>
          <p:cNvPr id="98" name="Text 96"/>
          <p:cNvSpPr/>
          <p:nvPr/>
        </p:nvSpPr>
        <p:spPr>
          <a:xfrm>
            <a:off x="7772400" y="6464808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 9 indicadores na ou acima da meta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017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 Executiva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7863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Destaques, pontos de atenção e próximos passos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195560" y="38404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spc="-100" kern="0" dirty="0">
                <a:solidFill>
                  <a:srgbClr val="2A4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tetra</a:t>
            </a:r>
            <a:pPr algn="r" indent="0" marL="0">
              <a:buNone/>
            </a:pPr>
            <a:r>
              <a:rPr lang="en-US" sz="2400" b="1" spc="-100" kern="0" dirty="0">
                <a:solidFill>
                  <a:srgbClr val="2A4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539496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E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1517904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FA98E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48132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4088" y="2167128"/>
            <a:ext cx="91440" cy="91440"/>
          </a:xfrm>
          <a:prstGeom prst="ellipse">
            <a:avLst/>
          </a:prstGeom>
          <a:solidFill>
            <a:srgbClr val="0FA98E"/>
          </a:solidFill>
          <a:ln/>
        </p:spPr>
      </p:sp>
      <p:sp>
        <p:nvSpPr>
          <p:cNvPr id="9" name="Text 7"/>
          <p:cNvSpPr/>
          <p:nvPr/>
        </p:nvSpPr>
        <p:spPr>
          <a:xfrm>
            <a:off x="923544" y="2066544"/>
            <a:ext cx="4645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&amp; Cost Avoidance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R$ 636 mil, 2,3% acima da meta.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04088" y="2734056"/>
            <a:ext cx="91440" cy="91440"/>
          </a:xfrm>
          <a:prstGeom prst="ellipse">
            <a:avLst/>
          </a:prstGeom>
          <a:solidFill>
            <a:srgbClr val="0FA98E"/>
          </a:solidFill>
          <a:ln/>
        </p:spPr>
      </p:sp>
      <p:sp>
        <p:nvSpPr>
          <p:cNvPr id="11" name="Text 9"/>
          <p:cNvSpPr/>
          <p:nvPr/>
        </p:nvSpPr>
        <p:spPr>
          <a:xfrm>
            <a:off x="923544" y="2633472"/>
            <a:ext cx="4645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sob controle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do budget consumido, sem estouro.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" y="3300984"/>
            <a:ext cx="91440" cy="91440"/>
          </a:xfrm>
          <a:prstGeom prst="ellipse">
            <a:avLst/>
          </a:prstGeom>
          <a:solidFill>
            <a:srgbClr val="0FA98E"/>
          </a:solidFill>
          <a:ln/>
        </p:spPr>
      </p:sp>
      <p:sp>
        <p:nvSpPr>
          <p:cNvPr id="13" name="Text 11"/>
          <p:cNvSpPr/>
          <p:nvPr/>
        </p:nvSpPr>
        <p:spPr>
          <a:xfrm>
            <a:off x="923544" y="3200400"/>
            <a:ext cx="4645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spend endereçado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109% da meta em pedidos de baixo valor.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3931920"/>
            <a:ext cx="539496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7512" y="4169664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DE51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13308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Atenção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4088" y="4818888"/>
            <a:ext cx="91440" cy="91440"/>
          </a:xfrm>
          <a:prstGeom prst="ellipse">
            <a:avLst/>
          </a:prstGeom>
          <a:solidFill>
            <a:srgbClr val="DE5145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" y="4718304"/>
            <a:ext cx="4645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de Recebimento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35,8 dias (129% da meta) — pressão no capital de giro.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04088" y="5385816"/>
            <a:ext cx="91440" cy="91440"/>
          </a:xfrm>
          <a:prstGeom prst="ellipse">
            <a:avLst/>
          </a:prstGeom>
          <a:solidFill>
            <a:srgbClr val="DE5145"/>
          </a:solidFill>
          <a:ln/>
        </p:spPr>
      </p:sp>
      <p:sp>
        <p:nvSpPr>
          <p:cNvPr id="20" name="Text 18"/>
          <p:cNvSpPr/>
          <p:nvPr/>
        </p:nvSpPr>
        <p:spPr>
          <a:xfrm>
            <a:off x="923544" y="5285232"/>
            <a:ext cx="4645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4,6% abaixo do valor mínimo — revisar compliance.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04088" y="5952744"/>
            <a:ext cx="91440" cy="91440"/>
          </a:xfrm>
          <a:prstGeom prst="ellipse">
            <a:avLst/>
          </a:prstGeom>
          <a:solidFill>
            <a:srgbClr val="DE5145"/>
          </a:solidFill>
          <a:ln/>
        </p:spPr>
      </p:sp>
      <p:sp>
        <p:nvSpPr>
          <p:cNvPr id="22" name="Text 20"/>
          <p:cNvSpPr/>
          <p:nvPr/>
        </p:nvSpPr>
        <p:spPr>
          <a:xfrm>
            <a:off x="923544" y="5852160"/>
            <a:ext cx="4645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Penetração de fornecedores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11,5% da base contratualizada.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82512" y="1280160"/>
            <a:ext cx="5394960" cy="5166360"/>
          </a:xfrm>
          <a:prstGeom prst="roundRect">
            <a:avLst>
              <a:gd name="adj" fmla="val 1593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E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38544" y="1517904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2A4BD7"/>
          </a:solidFill>
          <a:ln/>
        </p:spPr>
      </p:sp>
      <p:sp>
        <p:nvSpPr>
          <p:cNvPr id="25" name="Text 23"/>
          <p:cNvSpPr/>
          <p:nvPr/>
        </p:nvSpPr>
        <p:spPr>
          <a:xfrm>
            <a:off x="7068312" y="148132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675120" y="2167128"/>
            <a:ext cx="91440" cy="91440"/>
          </a:xfrm>
          <a:prstGeom prst="ellipse">
            <a:avLst/>
          </a:prstGeom>
          <a:solidFill>
            <a:srgbClr val="2A4BD7"/>
          </a:solidFill>
          <a:ln/>
        </p:spPr>
      </p:sp>
      <p:sp>
        <p:nvSpPr>
          <p:cNvPr id="27" name="Text 25"/>
          <p:cNvSpPr/>
          <p:nvPr/>
        </p:nvSpPr>
        <p:spPr>
          <a:xfrm>
            <a:off x="6894576" y="2066544"/>
            <a:ext cx="464515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Acelerar recebíveis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cobrança e revisão de condições comerciais para reduzir o prazo de recebimento à meta.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675120" y="3218688"/>
            <a:ext cx="91440" cy="91440"/>
          </a:xfrm>
          <a:prstGeom prst="ellipse">
            <a:avLst/>
          </a:prstGeom>
          <a:solidFill>
            <a:srgbClr val="2A4BD7"/>
          </a:solidFill>
          <a:ln/>
        </p:spPr>
      </p:sp>
      <p:sp>
        <p:nvSpPr>
          <p:cNvPr id="29" name="Text 27"/>
          <p:cNvSpPr/>
          <p:nvPr/>
        </p:nvSpPr>
        <p:spPr>
          <a:xfrm>
            <a:off x="6894576" y="3118104"/>
            <a:ext cx="464515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 política de Travel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Reforçar guidelines e alçadas de aprovação para reancorar o gasto ao mínimo negociado.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675120" y="4270248"/>
            <a:ext cx="91440" cy="91440"/>
          </a:xfrm>
          <a:prstGeom prst="ellipse">
            <a:avLst/>
          </a:prstGeom>
          <a:solidFill>
            <a:srgbClr val="2A4BD7"/>
          </a:solidFill>
          <a:ln/>
        </p:spPr>
      </p:sp>
      <p:sp>
        <p:nvSpPr>
          <p:cNvPr id="31" name="Text 29"/>
          <p:cNvSpPr/>
          <p:nvPr/>
        </p:nvSpPr>
        <p:spPr>
          <a:xfrm>
            <a:off x="6894576" y="4169664"/>
            <a:ext cx="464515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contratualização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contratos para elevar a penetração na base de fornecedores.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675120" y="5321808"/>
            <a:ext cx="91440" cy="91440"/>
          </a:xfrm>
          <a:prstGeom prst="ellipse">
            <a:avLst/>
          </a:prstGeom>
          <a:solidFill>
            <a:srgbClr val="2A4BD7"/>
          </a:solidFill>
          <a:ln/>
        </p:spPr>
      </p:sp>
      <p:sp>
        <p:nvSpPr>
          <p:cNvPr id="33" name="Text 31"/>
          <p:cNvSpPr/>
          <p:nvPr/>
        </p:nvSpPr>
        <p:spPr>
          <a:xfrm>
            <a:off x="6894576" y="5221224"/>
            <a:ext cx="464515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Sustentar savings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o pipeline de economia e a disciplina de budget no próximo ciclo.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Painel Executivo de Suprimentos - YTD 2026</dc:title>
  <dc:subject>PptxGenJS Presentation</dc:subject>
  <dc:creator>Suprimentos</dc:creator>
  <cp:lastModifiedBy>Suprimentos</cp:lastModifiedBy>
  <cp:revision>1</cp:revision>
  <dcterms:created xsi:type="dcterms:W3CDTF">2026-07-21T20:43:14Z</dcterms:created>
  <dcterms:modified xsi:type="dcterms:W3CDTF">2026-07-21T20:43:14Z</dcterms:modified>
</cp:coreProperties>
</file>
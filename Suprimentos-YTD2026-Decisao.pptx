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executiva orientada a decisão. Índice-síntese 93,8% (média dos 9 indicadores vs. metas). Três sinais fora do padrão: CRÍTICO — apenas 11,5% da base-alvo de fornecedores contratada; ATENÇÃO — hiato de caixa de 9,98 dias (recebimento 35,84d vs pagamento 25,86d); OPORTUNIDADE — 84,6% dos pedidos são cauda longa e representam só 29,4% do gasto (consolidação). Demais indicadores dentro da meta, listados à esquerda.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ial/f634adae-7efe-5c9c-9039-ea0a9500e864/scratchpad/left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3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84048"/>
            <a:ext cx="310896" cy="310896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365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41248" y="365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</a:t>
            </a:r>
            <a:pPr indent="0" marL="0">
              <a:buNone/>
            </a:pPr>
            <a:r>
              <a:rPr lang="en-US" sz="1800" b="1" dirty="0">
                <a:solidFill>
                  <a:srgbClr val="2F5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pic>
        <p:nvPicPr>
          <p:cNvPr id="6" name="Image 1" descr="/tmp/claude-0/-home-user-Trial/f634adae-7efe-5c9c-9039-ea0a9500e864/scratchpad/do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70432"/>
            <a:ext cx="2331720" cy="2331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4420" y="192481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93,8</a:t>
            </a:r>
            <a:pPr algn="ctr" indent="0" marL="0">
              <a:buNone/>
            </a:pPr>
            <a:r>
              <a:rPr lang="en-US" sz="2000" b="1" dirty="0">
                <a:solidFill>
                  <a:srgbClr val="C9D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365760" y="3611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médio de atendimento às metas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02920" y="38862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simples dos 9 indicadores de suprimentos vs. suas metas individuais · YTD 2026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4498848"/>
            <a:ext cx="3337560" cy="0"/>
          </a:xfrm>
          <a:prstGeom prst="line">
            <a:avLst/>
          </a:prstGeom>
          <a:noFill/>
          <a:ln w="12700">
            <a:solidFill>
              <a:srgbClr val="35477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6268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9B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INDICADORES · DENTRO DA META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21208" y="5052060"/>
            <a:ext cx="91440" cy="91440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13" name="Text 9"/>
          <p:cNvSpPr/>
          <p:nvPr/>
        </p:nvSpPr>
        <p:spPr>
          <a:xfrm>
            <a:off x="713232" y="49743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compra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108960" y="49743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93,5%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21208" y="5335524"/>
            <a:ext cx="91440" cy="91440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16" name="Text 12"/>
          <p:cNvSpPr/>
          <p:nvPr/>
        </p:nvSpPr>
        <p:spPr>
          <a:xfrm>
            <a:off x="713232" y="5257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108960" y="5257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99,0%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21208" y="5618988"/>
            <a:ext cx="91440" cy="91440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19" name="Text 15"/>
          <p:cNvSpPr/>
          <p:nvPr/>
        </p:nvSpPr>
        <p:spPr>
          <a:xfrm>
            <a:off x="713232" y="5541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108960" y="55412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105,9%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21208" y="5902452"/>
            <a:ext cx="91440" cy="91440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22" name="Text 18"/>
          <p:cNvSpPr/>
          <p:nvPr/>
        </p:nvSpPr>
        <p:spPr>
          <a:xfrm>
            <a:off x="713232" y="5824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e cost avoidance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108960" y="5824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102,3%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21208" y="6185916"/>
            <a:ext cx="91440" cy="91440"/>
          </a:xfrm>
          <a:prstGeom prst="ellipse">
            <a:avLst/>
          </a:prstGeom>
          <a:solidFill>
            <a:srgbClr val="1FA98E"/>
          </a:solidFill>
          <a:ln/>
        </p:spPr>
      </p:sp>
      <p:sp>
        <p:nvSpPr>
          <p:cNvPr id="25" name="Text 21"/>
          <p:cNvSpPr/>
          <p:nvPr/>
        </p:nvSpPr>
        <p:spPr>
          <a:xfrm>
            <a:off x="713232" y="6108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108960" y="61081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95,4%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709160" y="3840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pede decisão agora</a:t>
            </a:r>
            <a:endParaRPr lang="en-US" sz="2500" dirty="0"/>
          </a:p>
        </p:txBody>
      </p:sp>
      <p:sp>
        <p:nvSpPr>
          <p:cNvPr id="28" name="Text 24"/>
          <p:cNvSpPr/>
          <p:nvPr/>
        </p:nvSpPr>
        <p:spPr>
          <a:xfrm>
            <a:off x="10378440" y="402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2026
</a:t>
            </a:r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709160" y="89611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sinais fora do padrão nesta leitura de suprimentos — o restante da carteira segue sob controle.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709160" y="1481328"/>
            <a:ext cx="70408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7ECF4"/>
            </a:solidFill>
            <a:prstDash val="solid"/>
          </a:ln>
          <a:effectLst>
            <a:outerShdw sx="100000" sy="100000" kx="0" ky="0" algn="bl" rotWithShape="0" blurRad="88900" dist="25400" dir="5400000">
              <a:srgbClr val="9DB0CE">
                <a:alpha val="2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946904" y="1627632"/>
            <a:ext cx="716890" cy="219456"/>
          </a:xfrm>
          <a:prstGeom prst="roundRect">
            <a:avLst>
              <a:gd name="adj" fmla="val 50000"/>
            </a:avLst>
          </a:prstGeom>
          <a:solidFill>
            <a:srgbClr val="CE3B45">
              <a:alpha val="14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4946904" y="1627632"/>
            <a:ext cx="7168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E3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9957816" y="159105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CE3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11,5%</a:t>
            </a:r>
            <a:endParaRPr lang="en-US" sz="2500" dirty="0"/>
          </a:p>
        </p:txBody>
      </p:sp>
      <p:sp>
        <p:nvSpPr>
          <p:cNvPr id="34" name="Text 30"/>
          <p:cNvSpPr/>
          <p:nvPr/>
        </p:nvSpPr>
        <p:spPr>
          <a:xfrm>
            <a:off x="4946904" y="1901952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Apenas 11,5% da base-alvo de fornecedores foi contratada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4946904" y="2231136"/>
            <a:ext cx="6565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fornecedores contratados de uma meta de 2.846 — a maior lacuna do período e a única fora da faixa de tolerância.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946904" y="2615184"/>
            <a:ext cx="6565392" cy="137160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37" name="Shape 33"/>
          <p:cNvSpPr/>
          <p:nvPr/>
        </p:nvSpPr>
        <p:spPr>
          <a:xfrm>
            <a:off x="4946904" y="2615184"/>
            <a:ext cx="755020" cy="137160"/>
          </a:xfrm>
          <a:prstGeom prst="roundRect">
            <a:avLst>
              <a:gd name="adj" fmla="val 50000"/>
            </a:avLst>
          </a:prstGeom>
          <a:solidFill>
            <a:srgbClr val="CE3B45"/>
          </a:solidFill>
          <a:ln/>
        </p:spPr>
      </p:sp>
      <p:sp>
        <p:nvSpPr>
          <p:cNvPr id="38" name="Text 34"/>
          <p:cNvSpPr/>
          <p:nvPr/>
        </p:nvSpPr>
        <p:spPr>
          <a:xfrm>
            <a:off x="4946904" y="27980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contratados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9683496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2.846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709160" y="3191256"/>
            <a:ext cx="70408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7ECF4"/>
            </a:solidFill>
            <a:prstDash val="solid"/>
          </a:ln>
          <a:effectLst>
            <a:outerShdw sx="100000" sy="100000" kx="0" ky="0" algn="bl" rotWithShape="0" blurRad="88900" dist="25400" dir="5400000">
              <a:srgbClr val="9DB0CE">
                <a:alpha val="2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4946904" y="3337560"/>
            <a:ext cx="716890" cy="219456"/>
          </a:xfrm>
          <a:prstGeom prst="roundRect">
            <a:avLst>
              <a:gd name="adj" fmla="val 50000"/>
            </a:avLst>
          </a:prstGeom>
          <a:solidFill>
            <a:srgbClr val="B7891F">
              <a:alpha val="14000"/>
            </a:srgbClr>
          </a:solidFill>
          <a:ln/>
        </p:spPr>
      </p:sp>
      <p:sp>
        <p:nvSpPr>
          <p:cNvPr id="42" name="Text 38"/>
          <p:cNvSpPr/>
          <p:nvPr/>
        </p:nvSpPr>
        <p:spPr>
          <a:xfrm>
            <a:off x="4946904" y="3337560"/>
            <a:ext cx="7168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B78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9957816" y="330098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B78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9,98 d</a:t>
            </a:r>
            <a:endParaRPr lang="en-US" sz="2500" dirty="0"/>
          </a:p>
        </p:txBody>
      </p:sp>
      <p:sp>
        <p:nvSpPr>
          <p:cNvPr id="44" name="Text 40"/>
          <p:cNvSpPr/>
          <p:nvPr/>
        </p:nvSpPr>
        <p:spPr>
          <a:xfrm>
            <a:off x="4946904" y="3611880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empresa financia o cliente por quase 10 dias a cada ciclo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4946904" y="3941064"/>
            <a:ext cx="6565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 leva 35,84 dias; pagamento a fornecedores, 25,86 dias — um hiato de caixa de 9,98 dias entre o que sai e o que entra.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4946904" y="425196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6839712" y="4297680"/>
            <a:ext cx="3767328" cy="128016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48" name="Shape 44"/>
          <p:cNvSpPr/>
          <p:nvPr/>
        </p:nvSpPr>
        <p:spPr>
          <a:xfrm>
            <a:off x="6839712" y="4297680"/>
            <a:ext cx="2319598" cy="128016"/>
          </a:xfrm>
          <a:prstGeom prst="roundRect">
            <a:avLst>
              <a:gd name="adj" fmla="val 50000"/>
            </a:avLst>
          </a:prstGeom>
          <a:solidFill>
            <a:srgbClr val="C79A2E"/>
          </a:solidFill>
          <a:ln/>
        </p:spPr>
      </p:sp>
      <p:sp>
        <p:nvSpPr>
          <p:cNvPr id="49" name="Text 45"/>
          <p:cNvSpPr/>
          <p:nvPr/>
        </p:nvSpPr>
        <p:spPr>
          <a:xfrm>
            <a:off x="10735056" y="42519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25,86 d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4946904" y="44988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Recebimento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6839712" y="4544568"/>
            <a:ext cx="3767328" cy="128016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52" name="Shape 48"/>
          <p:cNvSpPr/>
          <p:nvPr/>
        </p:nvSpPr>
        <p:spPr>
          <a:xfrm>
            <a:off x="6839712" y="4544568"/>
            <a:ext cx="3214787" cy="128016"/>
          </a:xfrm>
          <a:prstGeom prst="roundRect">
            <a:avLst>
              <a:gd name="adj" fmla="val 50000"/>
            </a:avLst>
          </a:prstGeom>
          <a:solidFill>
            <a:srgbClr val="C79A2E"/>
          </a:solidFill>
          <a:ln/>
        </p:spPr>
      </p:sp>
      <p:sp>
        <p:nvSpPr>
          <p:cNvPr id="53" name="Text 49"/>
          <p:cNvSpPr/>
          <p:nvPr/>
        </p:nvSpPr>
        <p:spPr>
          <a:xfrm>
            <a:off x="10735056" y="44988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35,84 d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4709160" y="4901184"/>
            <a:ext cx="704088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7ECF4"/>
            </a:solidFill>
            <a:prstDash val="solid"/>
          </a:ln>
          <a:effectLst>
            <a:outerShdw sx="100000" sy="100000" kx="0" ky="0" algn="bl" rotWithShape="0" blurRad="88900" dist="25400" dir="5400000">
              <a:srgbClr val="9DB0CE">
                <a:alpha val="28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4946904" y="5047488"/>
            <a:ext cx="1046074" cy="219456"/>
          </a:xfrm>
          <a:prstGeom prst="roundRect">
            <a:avLst>
              <a:gd name="adj" fmla="val 50000"/>
            </a:avLst>
          </a:prstGeom>
          <a:solidFill>
            <a:srgbClr val="2F5AD6">
              <a:alpha val="14000"/>
            </a:srgbClr>
          </a:solidFill>
          <a:ln/>
        </p:spPr>
      </p:sp>
      <p:sp>
        <p:nvSpPr>
          <p:cNvPr id="56" name="Text 52"/>
          <p:cNvSpPr/>
          <p:nvPr/>
        </p:nvSpPr>
        <p:spPr>
          <a:xfrm>
            <a:off x="4946904" y="5047488"/>
            <a:ext cx="10460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F5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9957816" y="50109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" b="1" dirty="0">
                <a:solidFill>
                  <a:srgbClr val="2F5A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84,6%</a:t>
            </a:r>
            <a:endParaRPr lang="en-US" sz="2500" dirty="0"/>
          </a:p>
        </p:txBody>
      </p:sp>
      <p:sp>
        <p:nvSpPr>
          <p:cNvPr id="58" name="Text 54"/>
          <p:cNvSpPr/>
          <p:nvPr/>
        </p:nvSpPr>
        <p:spPr>
          <a:xfrm>
            <a:off x="4946904" y="5321808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84,6% dos pedidos são de baixo valor e pesam pouco no gasto</a:t>
            </a:r>
            <a:endParaRPr lang="en-US" sz="1400" dirty="0"/>
          </a:p>
        </p:txBody>
      </p:sp>
      <p:sp>
        <p:nvSpPr>
          <p:cNvPr id="59" name="Text 55"/>
          <p:cNvSpPr/>
          <p:nvPr/>
        </p:nvSpPr>
        <p:spPr>
          <a:xfrm>
            <a:off x="4946904" y="5650992"/>
            <a:ext cx="6565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1.329 dos 1.570 pedidos do ano são cauda longa, mas somam só R$ 2,05 Mi — 29,4% dos R$ 6,98 Mi consumidos. Sinal de consolidação.</a:t>
            </a:r>
            <a:endParaRPr lang="en-US" sz="1050" dirty="0"/>
          </a:p>
        </p:txBody>
      </p:sp>
      <p:sp>
        <p:nvSpPr>
          <p:cNvPr id="60" name="Text 56"/>
          <p:cNvSpPr/>
          <p:nvPr/>
        </p:nvSpPr>
        <p:spPr>
          <a:xfrm>
            <a:off x="4946904" y="59618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nos pedidos</a:t>
            </a:r>
            <a:endParaRPr lang="en-US" sz="1000" dirty="0"/>
          </a:p>
        </p:txBody>
      </p:sp>
      <p:sp>
        <p:nvSpPr>
          <p:cNvPr id="61" name="Shape 57"/>
          <p:cNvSpPr/>
          <p:nvPr/>
        </p:nvSpPr>
        <p:spPr>
          <a:xfrm>
            <a:off x="7114032" y="6007608"/>
            <a:ext cx="3538728" cy="128016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62" name="Shape 58"/>
          <p:cNvSpPr/>
          <p:nvPr/>
        </p:nvSpPr>
        <p:spPr>
          <a:xfrm>
            <a:off x="7114032" y="6007608"/>
            <a:ext cx="2993764" cy="128016"/>
          </a:xfrm>
          <a:prstGeom prst="roundRect">
            <a:avLst>
              <a:gd name="adj" fmla="val 50000"/>
            </a:avLst>
          </a:prstGeom>
          <a:solidFill>
            <a:srgbClr val="2F5AD6"/>
          </a:solidFill>
          <a:ln/>
        </p:spPr>
      </p:sp>
      <p:sp>
        <p:nvSpPr>
          <p:cNvPr id="63" name="Text 59"/>
          <p:cNvSpPr/>
          <p:nvPr/>
        </p:nvSpPr>
        <p:spPr>
          <a:xfrm>
            <a:off x="10780776" y="59618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84,6%</a:t>
            </a:r>
            <a:endParaRPr lang="en-US" sz="1000" dirty="0"/>
          </a:p>
        </p:txBody>
      </p:sp>
      <p:sp>
        <p:nvSpPr>
          <p:cNvPr id="64" name="Text 60"/>
          <p:cNvSpPr/>
          <p:nvPr/>
        </p:nvSpPr>
        <p:spPr>
          <a:xfrm>
            <a:off x="4946904" y="620877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no gasto</a:t>
            </a:r>
            <a:endParaRPr lang="en-US" sz="1000" dirty="0"/>
          </a:p>
        </p:txBody>
      </p:sp>
      <p:sp>
        <p:nvSpPr>
          <p:cNvPr id="65" name="Shape 61"/>
          <p:cNvSpPr/>
          <p:nvPr/>
        </p:nvSpPr>
        <p:spPr>
          <a:xfrm>
            <a:off x="7114032" y="6254496"/>
            <a:ext cx="3538728" cy="128016"/>
          </a:xfrm>
          <a:prstGeom prst="roundRect">
            <a:avLst>
              <a:gd name="adj" fmla="val 50000"/>
            </a:avLst>
          </a:prstGeom>
          <a:solidFill>
            <a:srgbClr val="EDF1F7"/>
          </a:solidFill>
          <a:ln/>
        </p:spPr>
      </p:sp>
      <p:sp>
        <p:nvSpPr>
          <p:cNvPr id="66" name="Shape 62"/>
          <p:cNvSpPr/>
          <p:nvPr/>
        </p:nvSpPr>
        <p:spPr>
          <a:xfrm>
            <a:off x="7114032" y="6254496"/>
            <a:ext cx="1040386" cy="128016"/>
          </a:xfrm>
          <a:prstGeom prst="roundRect">
            <a:avLst>
              <a:gd name="adj" fmla="val 50000"/>
            </a:avLst>
          </a:prstGeom>
          <a:solidFill>
            <a:srgbClr val="2F5AD6"/>
          </a:solidFill>
          <a:ln/>
        </p:spPr>
      </p:sp>
      <p:sp>
        <p:nvSpPr>
          <p:cNvPr id="67" name="Text 63"/>
          <p:cNvSpPr/>
          <p:nvPr/>
        </p:nvSpPr>
        <p:spPr>
          <a:xfrm>
            <a:off x="10780776" y="62087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29,4%</a:t>
            </a:r>
            <a:endParaRPr lang="en-US" sz="1000" dirty="0"/>
          </a:p>
        </p:txBody>
      </p:sp>
      <p:sp>
        <p:nvSpPr>
          <p:cNvPr id="68" name="Text 64"/>
          <p:cNvSpPr/>
          <p:nvPr/>
        </p:nvSpPr>
        <p:spPr>
          <a:xfrm>
            <a:off x="4709160" y="65105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indicadores de suprimentos · tetra+ · jul/2026</a:t>
            </a:r>
            <a:endParaRPr lang="en-US" sz="850" dirty="0"/>
          </a:p>
        </p:txBody>
      </p:sp>
      <p:sp>
        <p:nvSpPr>
          <p:cNvPr id="69" name="Text 65"/>
          <p:cNvSpPr/>
          <p:nvPr/>
        </p:nvSpPr>
        <p:spPr>
          <a:xfrm>
            <a:off x="8366760" y="65105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= média dos 9 indicadores vs. metas individuais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Suprimentos YTD 2026 - O que pede decisao agora</dc:title>
  <dc:subject>PptxGenJS Presentation</dc:subject>
  <dc:creator>PptxGenJS</dc:creator>
  <cp:lastModifiedBy>PptxGenJS</cp:lastModifiedBy>
  <cp:revision>1</cp:revision>
  <dcterms:created xsi:type="dcterms:W3CDTF">2026-07-21T21:06:46Z</dcterms:created>
  <dcterms:modified xsi:type="dcterms:W3CDTF">2026-07-21T21:06:46Z</dcterms:modified>
</cp:coreProperties>
</file>
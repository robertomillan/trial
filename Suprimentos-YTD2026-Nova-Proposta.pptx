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executiva única: cada indicador lido contra a linha de meta (100%). Régua ordenada da maior entrega (Tail Spend, Ticket, Savings) até os focos de ação destacados em vermelho (Prazo de Recebimento a 129% da meta e Travel abaixo do valor mínimo). Três números-herói sintetizam valor entregue, controle de budget e saúde geral do portfólio (7 de 9 na meta).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554480"/>
            <a:ext cx="3931920" cy="3931920"/>
          </a:xfrm>
          <a:prstGeom prst="ellipse">
            <a:avLst/>
          </a:prstGeom>
          <a:ln w="12700">
            <a:solidFill>
              <a:srgbClr val="6E8B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-777240"/>
            <a:ext cx="2377440" cy="2377440"/>
          </a:xfrm>
          <a:prstGeom prst="ellipse">
            <a:avLst/>
          </a:prstGeom>
          <a:ln w="12700">
            <a:solidFill>
              <a:srgbClr val="6E8BFF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SUPRIMENTOS  ·  YTD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75488" y="5852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vs. Meta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104120" y="457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3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</a:t>
            </a:r>
            <a:pPr algn="r" indent="0" marL="0">
              <a:buNone/>
            </a:pPr>
            <a:r>
              <a:rPr lang="en-US" sz="2300" b="1" spc="-100" kern="0" dirty="0">
                <a:solidFill>
                  <a:srgbClr val="6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544824" cy="1060704"/>
          </a:xfrm>
          <a:prstGeom prst="roundRect">
            <a:avLst>
              <a:gd name="adj" fmla="val 8621"/>
            </a:avLst>
          </a:prstGeom>
          <a:solidFill>
            <a:srgbClr val="17274F"/>
          </a:solidFill>
          <a:ln w="12700">
            <a:solidFill>
              <a:srgbClr val="24386B"/>
            </a:solidFill>
            <a:prstDash val="solid"/>
          </a:ln>
          <a:effectLst>
            <a:outerShdw sx="100000" sy="100000" kx="0" ky="0" algn="bl" rotWithShape="0" blurRad="114300" dist="25400" dir="5400000">
              <a:srgbClr val="04101F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609344"/>
            <a:ext cx="82296" cy="45720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42646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C7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R$ 636 mil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1901952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Cost Avoidance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2121408"/>
            <a:ext cx="2950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102,3% da meta — economia entregue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2064" y="1298448"/>
            <a:ext cx="3544824" cy="1060704"/>
          </a:xfrm>
          <a:prstGeom prst="roundRect">
            <a:avLst>
              <a:gd name="adj" fmla="val 8621"/>
            </a:avLst>
          </a:prstGeom>
          <a:solidFill>
            <a:srgbClr val="17274F"/>
          </a:solidFill>
          <a:ln w="12700">
            <a:solidFill>
              <a:srgbClr val="24386B"/>
            </a:solidFill>
            <a:prstDash val="solid"/>
          </a:ln>
          <a:effectLst>
            <a:outerShdw sx="100000" sy="100000" kx="0" ky="0" algn="bl" rotWithShape="0" blurRad="114300" dist="25400" dir="5400000">
              <a:srgbClr val="04101F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8096" y="1609344"/>
            <a:ext cx="82296" cy="457200"/>
          </a:xfrm>
          <a:prstGeom prst="roundRect">
            <a:avLst>
              <a:gd name="adj" fmla="val 50000"/>
            </a:avLst>
          </a:prstGeom>
          <a:solidFill>
            <a:srgbClr val="6E8BF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9264" y="142646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E8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79264" y="1901952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budget consumido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9264" y="2121408"/>
            <a:ext cx="2950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R$ 6,98 Mi de R$ 7,05 Mi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41208" y="1298448"/>
            <a:ext cx="3544824" cy="1060704"/>
          </a:xfrm>
          <a:prstGeom prst="roundRect">
            <a:avLst>
              <a:gd name="adj" fmla="val 8621"/>
            </a:avLst>
          </a:prstGeom>
          <a:solidFill>
            <a:srgbClr val="17274F"/>
          </a:solidFill>
          <a:ln w="12700">
            <a:solidFill>
              <a:srgbClr val="24386B"/>
            </a:solidFill>
            <a:prstDash val="solid"/>
          </a:ln>
          <a:effectLst>
            <a:outerShdw sx="100000" sy="100000" kx="0" ky="0" algn="bl" rotWithShape="0" blurRad="114300" dist="25400" dir="5400000">
              <a:srgbClr val="04101F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7240" y="1609344"/>
            <a:ext cx="82296" cy="45720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19" name="Text 17"/>
          <p:cNvSpPr/>
          <p:nvPr/>
        </p:nvSpPr>
        <p:spPr>
          <a:xfrm>
            <a:off x="8598408" y="1426464"/>
            <a:ext cx="2996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C7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598408" y="1901952"/>
            <a:ext cx="2950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na meta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8408" y="2121408"/>
            <a:ext cx="2950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majoritariamente saudável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vs. META  (100%)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5394960"/>
            <a:ext cx="11384280" cy="704088"/>
          </a:xfrm>
          <a:prstGeom prst="roundRect">
            <a:avLst>
              <a:gd name="adj" fmla="val 7792"/>
            </a:avLst>
          </a:prstGeom>
          <a:solidFill>
            <a:srgbClr val="F0685B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517550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F0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DE AÇÃO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20093" y="2944368"/>
            <a:ext cx="0" cy="3195828"/>
          </a:xfrm>
          <a:prstGeom prst="line">
            <a:avLst/>
          </a:prstGeom>
          <a:noFill/>
          <a:ln w="15875">
            <a:solidFill>
              <a:srgbClr val="8EA6D8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062893" y="2724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8E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0358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Spend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794760" y="31158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29" name="Shape 27"/>
          <p:cNvSpPr/>
          <p:nvPr/>
        </p:nvSpPr>
        <p:spPr>
          <a:xfrm>
            <a:off x="3794760" y="3115818"/>
            <a:ext cx="4064339" cy="18288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30" name="Text 28"/>
          <p:cNvSpPr/>
          <p:nvPr/>
        </p:nvSpPr>
        <p:spPr>
          <a:xfrm>
            <a:off x="9098280" y="30358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C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109,1%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2,05 Mi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3787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794760" y="34587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33" name="Shape 31"/>
          <p:cNvSpPr/>
          <p:nvPr/>
        </p:nvSpPr>
        <p:spPr>
          <a:xfrm>
            <a:off x="3794760" y="3458718"/>
            <a:ext cx="3945128" cy="18288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33787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C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105,9%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4,43 Mil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37216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&amp; Cost Avoidance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794760" y="38016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37" name="Shape 35"/>
          <p:cNvSpPr/>
          <p:nvPr/>
        </p:nvSpPr>
        <p:spPr>
          <a:xfrm>
            <a:off x="3794760" y="3801618"/>
            <a:ext cx="3811016" cy="18288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38" name="Text 36"/>
          <p:cNvSpPr/>
          <p:nvPr/>
        </p:nvSpPr>
        <p:spPr>
          <a:xfrm>
            <a:off x="9098280" y="37216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C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102,3%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636,23 Mil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0645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94760" y="41445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41" name="Shape 39"/>
          <p:cNvSpPr/>
          <p:nvPr/>
        </p:nvSpPr>
        <p:spPr>
          <a:xfrm>
            <a:off x="3794760" y="4144518"/>
            <a:ext cx="3688080" cy="18288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42" name="Text 40"/>
          <p:cNvSpPr/>
          <p:nvPr/>
        </p:nvSpPr>
        <p:spPr>
          <a:xfrm>
            <a:off x="9098280" y="40645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C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6,98 Mi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4074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Pagamento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794760" y="44874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45" name="Shape 43"/>
          <p:cNvSpPr/>
          <p:nvPr/>
        </p:nvSpPr>
        <p:spPr>
          <a:xfrm>
            <a:off x="3794760" y="4487418"/>
            <a:ext cx="3647101" cy="182880"/>
          </a:xfrm>
          <a:prstGeom prst="roundRect">
            <a:avLst>
              <a:gd name="adj" fmla="val 50000"/>
            </a:avLst>
          </a:prstGeom>
          <a:solidFill>
            <a:srgbClr val="1CC7A4"/>
          </a:solidFill>
          <a:ln/>
        </p:spPr>
      </p:sp>
      <p:sp>
        <p:nvSpPr>
          <p:cNvPr id="46" name="Text 44"/>
          <p:cNvSpPr/>
          <p:nvPr/>
        </p:nvSpPr>
        <p:spPr>
          <a:xfrm>
            <a:off x="9098280" y="44074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C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97,9%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25,86 dias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47503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Compra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94760" y="48303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49" name="Shape 47"/>
          <p:cNvSpPr/>
          <p:nvPr/>
        </p:nvSpPr>
        <p:spPr>
          <a:xfrm>
            <a:off x="3794760" y="4830318"/>
            <a:ext cx="3483187" cy="182880"/>
          </a:xfrm>
          <a:prstGeom prst="roundRect">
            <a:avLst>
              <a:gd name="adj" fmla="val 50000"/>
            </a:avLst>
          </a:prstGeom>
          <a:solidFill>
            <a:srgbClr val="6E8BFF"/>
          </a:solidFill>
          <a:ln/>
        </p:spPr>
      </p:sp>
      <p:sp>
        <p:nvSpPr>
          <p:cNvPr id="50" name="Text 48"/>
          <p:cNvSpPr/>
          <p:nvPr/>
        </p:nvSpPr>
        <p:spPr>
          <a:xfrm>
            <a:off x="9098280" y="47503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93,5%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1,57 Mil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2920" y="50932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Contratados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794760" y="51732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53" name="Shape 51"/>
          <p:cNvSpPr/>
          <p:nvPr/>
        </p:nvSpPr>
        <p:spPr>
          <a:xfrm>
            <a:off x="3794760" y="5173218"/>
            <a:ext cx="428413" cy="182880"/>
          </a:xfrm>
          <a:prstGeom prst="roundRect">
            <a:avLst>
              <a:gd name="adj" fmla="val 50000"/>
            </a:avLst>
          </a:prstGeom>
          <a:solidFill>
            <a:srgbClr val="6E8BFF"/>
          </a:solidFill>
          <a:ln/>
        </p:spPr>
      </p:sp>
      <p:sp>
        <p:nvSpPr>
          <p:cNvPr id="54" name="Text 52"/>
          <p:cNvSpPr/>
          <p:nvPr/>
        </p:nvSpPr>
        <p:spPr>
          <a:xfrm>
            <a:off x="9098280" y="50932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E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11,5%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328 de 2.846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54361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 Recebimento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794760" y="55161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57" name="Shape 55"/>
          <p:cNvSpPr/>
          <p:nvPr/>
        </p:nvSpPr>
        <p:spPr>
          <a:xfrm>
            <a:off x="3794760" y="5516118"/>
            <a:ext cx="4816856" cy="182880"/>
          </a:xfrm>
          <a:prstGeom prst="roundRect">
            <a:avLst>
              <a:gd name="adj" fmla="val 50000"/>
            </a:avLst>
          </a:prstGeom>
          <a:solidFill>
            <a:srgbClr val="F0685B"/>
          </a:solidFill>
          <a:ln/>
        </p:spPr>
      </p:sp>
      <p:sp>
        <p:nvSpPr>
          <p:cNvPr id="58" name="Text 56"/>
          <p:cNvSpPr/>
          <p:nvPr/>
        </p:nvSpPr>
        <p:spPr>
          <a:xfrm>
            <a:off x="9098280" y="54361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129,3%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35,84 dias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02920" y="5779008"/>
            <a:ext cx="3063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794760" y="5859018"/>
            <a:ext cx="5029200" cy="182880"/>
          </a:xfrm>
          <a:prstGeom prst="roundRect">
            <a:avLst>
              <a:gd name="adj" fmla="val 50000"/>
            </a:avLst>
          </a:prstGeom>
          <a:solidFill>
            <a:srgbClr val="1E3160"/>
          </a:solidFill>
          <a:ln/>
        </p:spPr>
      </p:sp>
      <p:sp>
        <p:nvSpPr>
          <p:cNvPr id="61" name="Shape 59"/>
          <p:cNvSpPr/>
          <p:nvPr/>
        </p:nvSpPr>
        <p:spPr>
          <a:xfrm>
            <a:off x="3794760" y="5859018"/>
            <a:ext cx="3553968" cy="182880"/>
          </a:xfrm>
          <a:prstGeom prst="roundRect">
            <a:avLst>
              <a:gd name="adj" fmla="val 50000"/>
            </a:avLst>
          </a:prstGeom>
          <a:solidFill>
            <a:srgbClr val="F0685B"/>
          </a:solidFill>
          <a:ln/>
        </p:spPr>
      </p:sp>
      <p:sp>
        <p:nvSpPr>
          <p:cNvPr id="62" name="Text 60"/>
          <p:cNvSpPr/>
          <p:nvPr/>
        </p:nvSpPr>
        <p:spPr>
          <a:xfrm>
            <a:off x="9098280" y="5779008"/>
            <a:ext cx="2606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6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95,4%</a:t>
            </a:r>
            <a:pPr algn="l" indent="0" marL="0">
              <a:buNone/>
            </a:pPr>
            <a:r>
              <a:rPr lang="en-US" sz="11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425,66 Mil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02920" y="6364224"/>
            <a:ext cx="109728" cy="109728"/>
          </a:xfrm>
          <a:prstGeom prst="ellipse">
            <a:avLst/>
          </a:prstGeom>
          <a:solidFill>
            <a:srgbClr val="1CC7A4"/>
          </a:solidFill>
          <a:ln/>
        </p:spPr>
      </p:sp>
      <p:sp>
        <p:nvSpPr>
          <p:cNvPr id="64" name="Text 62"/>
          <p:cNvSpPr/>
          <p:nvPr/>
        </p:nvSpPr>
        <p:spPr>
          <a:xfrm>
            <a:off x="667512" y="6291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/ acima da meta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106778" y="6364224"/>
            <a:ext cx="109728" cy="109728"/>
          </a:xfrm>
          <a:prstGeom prst="ellipse">
            <a:avLst/>
          </a:prstGeom>
          <a:solidFill>
            <a:srgbClr val="6E8BFF"/>
          </a:solidFill>
          <a:ln/>
        </p:spPr>
      </p:sp>
      <p:sp>
        <p:nvSpPr>
          <p:cNvPr id="66" name="Text 64"/>
          <p:cNvSpPr/>
          <p:nvPr/>
        </p:nvSpPr>
        <p:spPr>
          <a:xfrm>
            <a:off x="2271370" y="6291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275381" y="6364224"/>
            <a:ext cx="109728" cy="109728"/>
          </a:xfrm>
          <a:prstGeom prst="ellipse">
            <a:avLst/>
          </a:prstGeom>
          <a:solidFill>
            <a:srgbClr val="F0685B"/>
          </a:solidFill>
          <a:ln/>
        </p:spPr>
      </p:sp>
      <p:sp>
        <p:nvSpPr>
          <p:cNvPr id="68" name="Text 66"/>
          <p:cNvSpPr/>
          <p:nvPr/>
        </p:nvSpPr>
        <p:spPr>
          <a:xfrm>
            <a:off x="3439973" y="6291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 atenção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035040" y="6291072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Focos: </a:t>
            </a:r>
            <a:pPr algn="r" indent="0" marL="0">
              <a:buNone/>
            </a:pPr>
            <a:r>
              <a:rPr lang="en-US" sz="1000" dirty="0">
                <a:solidFill>
                  <a:srgbClr val="CF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recebíveis (capital de giro)  ·  rever política de Travel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Suprimentos YTD 2026 - Desempenho vs. Meta</dc:title>
  <dc:subject>PptxGenJS Presentation</dc:subject>
  <dc:creator>PptxGenJS</dc:creator>
  <cp:lastModifiedBy>PptxGenJS</cp:lastModifiedBy>
  <cp:revision>1</cp:revision>
  <dcterms:created xsi:type="dcterms:W3CDTF">2026-07-21T20:48:16Z</dcterms:created>
  <dcterms:modified xsi:type="dcterms:W3CDTF">2026-07-21T20:48:16Z</dcterms:modified>
</cp:coreProperties>
</file>